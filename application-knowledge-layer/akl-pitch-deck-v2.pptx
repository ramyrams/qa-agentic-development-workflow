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frame this as infrastructure, not a documentation project. One governed source of truth that both people and AI agents build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the deeper-dive version, with governance and future-proofing as their own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pain points. The last one is the one that makes this urgent now: we're already scaling AI-assisted development, and it's inheriting the same ungoverned knowledge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 in one sentence, then the three design principles that make it durable rather than another doc effort that decays.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three-stage flow, then the eight domains with owners — makes the federated model concrete before we discuss governance. Non-Functional is the newest addition; deep-dive slides follow for UI, API, DB, and Non-Functional.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in the deck. v1 of this design hand-wrote schema and contract docs — that decays within a quarter. Generating them is ~1-2 weeks of upfront work and is the difference between durable and decaying.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is often the least governed domain today — this makes 'what does this page do and what does it depend on' a structured fact, not tribal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interface layer between schema and business logic — the second read in the endpoint-scaffolding skill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is read first in the scaffolding skill because it's the least negotiable fact — everything else is built on top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as the eighth domain, alongside the original seven — owned by Architecture since it cuts across every feature rather than belonging to one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team in the room should see themselves here — this is a cross-functional ask, not a BA or dev-only initiative. Detail slides follow for each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Management's angle is risk and leverage: this is the artifact that makes wider AI adoption defensible, not just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 often assume 'AI governance' means more work for them. The point here is the opposite — rules they already write become self-enforcing.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Developers care about friction. Every one of these is 'less time spent reconstructing context that already exists somewhere.'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QA's biggest daily friction is ambiguity about intended behavior — this directly targets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directly to the self-healing/self-generating test agent ideas already on the automation roadmap — this is the missing grounding layer for those.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to land here: CODEOWNERS enforces this automatically via GitHub — a backend PR touching validation-rules requires QA sign-off without anyone remembering to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steps, same as any PR. The callout at the bottom is the key governance design decision — worth pausing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dry and precise — this is the slide people screenshot and pin. R/A/C/I keeps the model auditable. Non-Functional sits with Architecture since it cuts across every team's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gap that turns governance from aspiration into enforcement. All of it is cheap CI. A PR that breaks the standard simply cannot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v1 design used calendar SLAs. That is the wrong signal — it marks a doc fresh when the code moved underneath it. Churn-based detection catches actual drift. Derived domains need neither, since they regenerate.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Pre-answer this before the approval meeting. If Security raises it first and we have no position, the pilot stalls.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do the heavy lifting silently; skills are for the smaller set of repeatable dev tasks that actively read the layer. Same underlying files, two consumption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'won't this be obsolete once tooling changes' — the bet is on the file format and structure, not on Copilot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three are asks today — the point is that saying yes to the pilot doesn't foreclose any of them later, and none require migrating the knowledge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last metric deliberately measures our own cost, not just benefit. If authoring hours outweigh the gains, we want to know that from the pilot rather than after a full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phase depends on the one before it. Emphasize this is a pilot, not a big-bang rollout — lowers the ask considerably.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if anyone asks 'has anyone actually done this?' Every row but the last is established practice with independent evidence. Also worth naming the counter-evidence honestly: Backstage rollouts have a reputation for 6-12 month slogs, which is exactly why we're proposing a bounded pilot rather than a platform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ask small and concrete — approval, one pilot team, one owner. Not a company-wide mandate.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smallest possible next step — approval of the pilot scope — and open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657600" cy="3657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5684368" y="123444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7812" y="1357884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Knowledge Layer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188720" y="3200400"/>
            <a:ext cx="9814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Foundation for AI-Assisted Development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5989320"/>
            <a:ext cx="9814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IMPLEMENTATION  ·  VERSION 2.0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6309360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Management  •  Business Analysis  •  Development  •  QA  • 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37360" y="16002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Idea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35040" y="16002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scattered knowledge is now an AI-governance risk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2139696"/>
            <a:ext cx="105156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17627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737360" y="21762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35040" y="217627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vs. authored — the decision that prevents decay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2715768"/>
            <a:ext cx="105156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75234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737360" y="27523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Deep Dives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35040" y="275234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API, DB, and non-functional in detail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" y="3291840"/>
            <a:ext cx="105156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328416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737360" y="332841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by Team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035040" y="332841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each of the six teams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22960" y="3867912"/>
            <a:ext cx="105156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390448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737360" y="39044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Enforcement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035040" y="390448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CI validation, churn-based freshness, security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22960" y="4443984"/>
            <a:ext cx="105156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" y="44805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1737360" y="44805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035040" y="44805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vs. skills in Copilot / VS Code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22960" y="5020056"/>
            <a:ext cx="105156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" y="505663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1737360" y="50566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 &amp; Measurement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035040" y="505663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triggers, and how we prove it works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22960" y="5596128"/>
            <a:ext cx="105156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2960" y="563270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1737360" y="563270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Precedent, Rollout &amp; The Ask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035040" y="563270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evidence, then a bounded pilot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application knowledge lives everywhere — and nowhere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18" y="2132838"/>
            <a:ext cx="352044" cy="3520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039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97280" y="2651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rules, workflows, and contracts live in BA docs, tribal knowledge, and Slack threads — not one governed place.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55080" y="1783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2" name="Shape 8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838" y="2132838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039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stale silently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629400" y="2651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flags when a rule or schema doc drifts from what's actually implemented.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7" name="Shape 12"/>
          <p:cNvSpPr/>
          <p:nvPr/>
        </p:nvSpPr>
        <p:spPr>
          <a:xfrm>
            <a:off x="109728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718" y="4418838"/>
            <a:ext cx="352044" cy="3520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Re-derived, repeatedly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097280" y="4937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— BA, dev, QA, automation — independently reconstructs the same facts, at different levels of accuracy.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5508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62940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838" y="4418838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guess too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629400" y="4937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governed context, Copilot and automation agents infer intent — and can confidently get it wrong.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governed source of truth, written once, reused everywhere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371600" y="169164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Knowledge Layer (AKL) captures business rules, workflows, pages, elements, validation rules, DB schema, and API contracts as structured, version-controlled documents — in the same repository as the code they describe.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371600" y="288036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141A45"/>
          </a:solidFill>
          <a:ln/>
        </p:spPr>
      </p:sp>
      <p:sp>
        <p:nvSpPr>
          <p:cNvPr id="8" name="Shape 5"/>
          <p:cNvSpPr/>
          <p:nvPr/>
        </p:nvSpPr>
        <p:spPr>
          <a:xfrm>
            <a:off x="2720340" y="3154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36" y="323697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886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like code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45920" y="4297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 process, same review discipline — no separate documentation workflow.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937760" y="288036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141A45"/>
          </a:solidFill>
          <a:ln/>
        </p:spPr>
      </p:sp>
      <p:sp>
        <p:nvSpPr>
          <p:cNvPr id="13" name="Shape 9"/>
          <p:cNvSpPr/>
          <p:nvPr/>
        </p:nvSpPr>
        <p:spPr>
          <a:xfrm>
            <a:off x="6286500" y="3154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323697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66360" y="3886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owner per fact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212080" y="4297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is authored by the team closest to it — no duplicated or conflicting versions.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503920" y="288036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141A45"/>
          </a:solidFill>
          <a:ln/>
        </p:spPr>
      </p:sp>
      <p:sp>
        <p:nvSpPr>
          <p:cNvPr id="18" name="Shape 13"/>
          <p:cNvSpPr/>
          <p:nvPr/>
        </p:nvSpPr>
        <p:spPr>
          <a:xfrm>
            <a:off x="9852660" y="3154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4956" y="323697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32520" y="3886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automatically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778240" y="4297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loads the relevant knowledge for the file a developer is editing — no manual lookup.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contribute by domain — agents consume automatically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/>
        </p:spPr>
      </p:sp>
      <p:sp>
        <p:nvSpPr>
          <p:cNvPr id="7" name="Shape 4"/>
          <p:cNvSpPr/>
          <p:nvPr/>
        </p:nvSpPr>
        <p:spPr>
          <a:xfrm>
            <a:off x="2057400" y="19842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2066544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Contribute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572000" y="178308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/>
        </p:spPr>
      </p:sp>
      <p:sp>
        <p:nvSpPr>
          <p:cNvPr id="11" name="Shape 7"/>
          <p:cNvSpPr/>
          <p:nvPr/>
        </p:nvSpPr>
        <p:spPr>
          <a:xfrm>
            <a:off x="5806440" y="19842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06654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321040" y="178308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/>
        </p:spPr>
      </p:sp>
      <p:sp>
        <p:nvSpPr>
          <p:cNvPr id="15" name="Shape 10"/>
          <p:cNvSpPr/>
          <p:nvPr/>
        </p:nvSpPr>
        <p:spPr>
          <a:xfrm>
            <a:off x="9555480" y="19842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76" y="2066544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5820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Consume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822960" y="32644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BA, Dev, and QA each author their domain via pull request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4572000" y="32644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domains — some authored, some generated from code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8321040" y="32644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loads the scoped context automatically per file</a:t>
            </a:r>
            <a:endParaRPr lang="en-US" sz="10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331720"/>
            <a:ext cx="594360" cy="274320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331720"/>
            <a:ext cx="59436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22960" y="39136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KNOWLEDGE DOMAINS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58368" y="4279392"/>
            <a:ext cx="9601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5" name="Text 17"/>
          <p:cNvSpPr/>
          <p:nvPr/>
        </p:nvSpPr>
        <p:spPr>
          <a:xfrm>
            <a:off x="694944" y="435254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694944" y="4718304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750" dirty="0"/>
          </a:p>
        </p:txBody>
      </p:sp>
      <p:sp>
        <p:nvSpPr>
          <p:cNvPr id="27" name="Shape 19"/>
          <p:cNvSpPr/>
          <p:nvPr/>
        </p:nvSpPr>
        <p:spPr>
          <a:xfrm>
            <a:off x="1682496" y="4279392"/>
            <a:ext cx="9601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8" name="Text 20"/>
          <p:cNvSpPr/>
          <p:nvPr/>
        </p:nvSpPr>
        <p:spPr>
          <a:xfrm>
            <a:off x="1719072" y="435254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1719072" y="4718304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2706624" y="4279392"/>
            <a:ext cx="9601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31" name="Text 23"/>
          <p:cNvSpPr/>
          <p:nvPr/>
        </p:nvSpPr>
        <p:spPr>
          <a:xfrm>
            <a:off x="2743200" y="435254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2743200" y="4718304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Dev+QA</a:t>
            </a:r>
            <a:endParaRPr lang="en-US" sz="750" dirty="0"/>
          </a:p>
        </p:txBody>
      </p:sp>
      <p:sp>
        <p:nvSpPr>
          <p:cNvPr id="33" name="Shape 25"/>
          <p:cNvSpPr/>
          <p:nvPr/>
        </p:nvSpPr>
        <p:spPr>
          <a:xfrm>
            <a:off x="3730752" y="4279392"/>
            <a:ext cx="9601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34" name="Text 26"/>
          <p:cNvSpPr/>
          <p:nvPr/>
        </p:nvSpPr>
        <p:spPr>
          <a:xfrm>
            <a:off x="3767328" y="435254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3767328" y="4718304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750" dirty="0"/>
          </a:p>
        </p:txBody>
      </p:sp>
      <p:sp>
        <p:nvSpPr>
          <p:cNvPr id="36" name="Shape 28"/>
          <p:cNvSpPr/>
          <p:nvPr/>
        </p:nvSpPr>
        <p:spPr>
          <a:xfrm>
            <a:off x="4754880" y="4279392"/>
            <a:ext cx="9601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37" name="Text 29"/>
          <p:cNvSpPr/>
          <p:nvPr/>
        </p:nvSpPr>
        <p:spPr>
          <a:xfrm>
            <a:off x="4791456" y="435254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4791456" y="4718304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5779008" y="4279392"/>
            <a:ext cx="9601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40" name="Text 32"/>
          <p:cNvSpPr/>
          <p:nvPr/>
        </p:nvSpPr>
        <p:spPr>
          <a:xfrm>
            <a:off x="5815584" y="435254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5815584" y="4718304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6803136" y="4279392"/>
            <a:ext cx="960120" cy="713232"/>
          </a:xfrm>
          <a:prstGeom prst="roundRect">
            <a:avLst>
              <a:gd name="adj" fmla="val 7692"/>
            </a:avLst>
          </a:prstGeom>
          <a:solidFill>
            <a:srgbClr val="3A4A80"/>
          </a:solidFill>
          <a:ln/>
        </p:spPr>
      </p:sp>
      <p:sp>
        <p:nvSpPr>
          <p:cNvPr id="43" name="Text 35"/>
          <p:cNvSpPr/>
          <p:nvPr/>
        </p:nvSpPr>
        <p:spPr>
          <a:xfrm>
            <a:off x="6839712" y="435254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6839712" y="4718304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50" dirty="0"/>
          </a:p>
        </p:txBody>
      </p:sp>
      <p:sp>
        <p:nvSpPr>
          <p:cNvPr id="45" name="Shape 37"/>
          <p:cNvSpPr/>
          <p:nvPr/>
        </p:nvSpPr>
        <p:spPr>
          <a:xfrm>
            <a:off x="7827264" y="4279392"/>
            <a:ext cx="960120" cy="713232"/>
          </a:xfrm>
          <a:prstGeom prst="roundRect">
            <a:avLst>
              <a:gd name="adj" fmla="val 7692"/>
            </a:avLst>
          </a:prstGeom>
          <a:solidFill>
            <a:srgbClr val="3A4A80"/>
          </a:solidFill>
          <a:ln/>
        </p:spPr>
      </p:sp>
      <p:sp>
        <p:nvSpPr>
          <p:cNvPr id="46" name="Text 38"/>
          <p:cNvSpPr/>
          <p:nvPr/>
        </p:nvSpPr>
        <p:spPr>
          <a:xfrm>
            <a:off x="7863840" y="435254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</a:t>
            </a:r>
            <a:endParaRPr lang="en-US" sz="850" dirty="0"/>
          </a:p>
        </p:txBody>
      </p:sp>
      <p:sp>
        <p:nvSpPr>
          <p:cNvPr id="47" name="Text 39"/>
          <p:cNvSpPr/>
          <p:nvPr/>
        </p:nvSpPr>
        <p:spPr>
          <a:xfrm>
            <a:off x="7863840" y="4718304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50" dirty="0"/>
          </a:p>
        </p:txBody>
      </p:sp>
      <p:sp>
        <p:nvSpPr>
          <p:cNvPr id="48" name="Shape 40"/>
          <p:cNvSpPr/>
          <p:nvPr/>
        </p:nvSpPr>
        <p:spPr>
          <a:xfrm>
            <a:off x="8851392" y="4279392"/>
            <a:ext cx="960120" cy="713232"/>
          </a:xfrm>
          <a:prstGeom prst="roundRect">
            <a:avLst>
              <a:gd name="adj" fmla="val 7692"/>
            </a:avLst>
          </a:prstGeom>
          <a:solidFill>
            <a:srgbClr val="3A4A80"/>
          </a:solidFill>
          <a:ln/>
        </p:spPr>
      </p:sp>
      <p:sp>
        <p:nvSpPr>
          <p:cNvPr id="49" name="Text 41"/>
          <p:cNvSpPr/>
          <p:nvPr/>
        </p:nvSpPr>
        <p:spPr>
          <a:xfrm>
            <a:off x="8887968" y="435254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850" dirty="0"/>
          </a:p>
        </p:txBody>
      </p:sp>
      <p:sp>
        <p:nvSpPr>
          <p:cNvPr id="50" name="Text 42"/>
          <p:cNvSpPr/>
          <p:nvPr/>
        </p:nvSpPr>
        <p:spPr>
          <a:xfrm>
            <a:off x="8887968" y="4718304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50" dirty="0"/>
          </a:p>
        </p:txBody>
      </p:sp>
      <p:sp>
        <p:nvSpPr>
          <p:cNvPr id="51" name="Shape 43"/>
          <p:cNvSpPr/>
          <p:nvPr/>
        </p:nvSpPr>
        <p:spPr>
          <a:xfrm>
            <a:off x="9875520" y="4279392"/>
            <a:ext cx="960120" cy="713232"/>
          </a:xfrm>
          <a:prstGeom prst="roundRect">
            <a:avLst>
              <a:gd name="adj" fmla="val 7692"/>
            </a:avLst>
          </a:prstGeom>
          <a:solidFill>
            <a:srgbClr val="E8A33D"/>
          </a:solidFill>
          <a:ln/>
        </p:spPr>
      </p:sp>
      <p:sp>
        <p:nvSpPr>
          <p:cNvPr id="52" name="Text 44"/>
          <p:cNvSpPr/>
          <p:nvPr/>
        </p:nvSpPr>
        <p:spPr>
          <a:xfrm>
            <a:off x="9912096" y="435254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</a:t>
            </a:r>
            <a:endParaRPr lang="en-US" sz="850" dirty="0"/>
          </a:p>
        </p:txBody>
      </p:sp>
      <p:sp>
        <p:nvSpPr>
          <p:cNvPr id="53" name="Text 45"/>
          <p:cNvSpPr/>
          <p:nvPr/>
        </p:nvSpPr>
        <p:spPr>
          <a:xfrm>
            <a:off x="9912096" y="4718304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50" dirty="0"/>
          </a:p>
        </p:txBody>
      </p:sp>
      <p:sp>
        <p:nvSpPr>
          <p:cNvPr id="54" name="Shape 46"/>
          <p:cNvSpPr/>
          <p:nvPr/>
        </p:nvSpPr>
        <p:spPr>
          <a:xfrm>
            <a:off x="10899648" y="4279392"/>
            <a:ext cx="960120" cy="713232"/>
          </a:xfrm>
          <a:prstGeom prst="roundRect">
            <a:avLst>
              <a:gd name="adj" fmla="val 7692"/>
            </a:avLst>
          </a:prstGeom>
          <a:solidFill>
            <a:srgbClr val="E8A33D"/>
          </a:solidFill>
          <a:ln/>
        </p:spPr>
      </p:sp>
      <p:sp>
        <p:nvSpPr>
          <p:cNvPr id="55" name="Text 47"/>
          <p:cNvSpPr/>
          <p:nvPr/>
        </p:nvSpPr>
        <p:spPr>
          <a:xfrm>
            <a:off x="10936224" y="435254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Contracts</a:t>
            </a:r>
            <a:endParaRPr lang="en-US" sz="850" dirty="0"/>
          </a:p>
        </p:txBody>
      </p:sp>
      <p:sp>
        <p:nvSpPr>
          <p:cNvPr id="56" name="Text 48"/>
          <p:cNvSpPr/>
          <p:nvPr/>
        </p:nvSpPr>
        <p:spPr>
          <a:xfrm>
            <a:off x="10936224" y="4718304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50" dirty="0"/>
          </a:p>
        </p:txBody>
      </p:sp>
      <p:sp>
        <p:nvSpPr>
          <p:cNvPr id="57" name="Shape 49"/>
          <p:cNvSpPr/>
          <p:nvPr/>
        </p:nvSpPr>
        <p:spPr>
          <a:xfrm>
            <a:off x="658368" y="513892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58" name="Text 50"/>
          <p:cNvSpPr/>
          <p:nvPr/>
        </p:nvSpPr>
        <p:spPr>
          <a:xfrm>
            <a:off x="896112" y="50749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</a:t>
            </a:r>
            <a:endParaRPr lang="en-US" sz="950" dirty="0"/>
          </a:p>
        </p:txBody>
      </p:sp>
      <p:sp>
        <p:nvSpPr>
          <p:cNvPr id="59" name="Shape 51"/>
          <p:cNvSpPr/>
          <p:nvPr/>
        </p:nvSpPr>
        <p:spPr>
          <a:xfrm>
            <a:off x="2624328" y="513892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A4A80"/>
          </a:solidFill>
          <a:ln/>
        </p:spPr>
      </p:sp>
      <p:sp>
        <p:nvSpPr>
          <p:cNvPr id="60" name="Text 52"/>
          <p:cNvSpPr/>
          <p:nvPr/>
        </p:nvSpPr>
        <p:spPr>
          <a:xfrm>
            <a:off x="2862072" y="50749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950" dirty="0"/>
          </a:p>
        </p:txBody>
      </p:sp>
      <p:sp>
        <p:nvSpPr>
          <p:cNvPr id="61" name="Shape 53"/>
          <p:cNvSpPr/>
          <p:nvPr/>
        </p:nvSpPr>
        <p:spPr>
          <a:xfrm>
            <a:off x="4590288" y="513892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8A33D"/>
          </a:solidFill>
          <a:ln/>
        </p:spPr>
      </p:sp>
      <p:sp>
        <p:nvSpPr>
          <p:cNvPr id="62" name="Text 54"/>
          <p:cNvSpPr/>
          <p:nvPr/>
        </p:nvSpPr>
        <p:spPr>
          <a:xfrm>
            <a:off x="4828032" y="50749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(generated)</a:t>
            </a:r>
            <a:endParaRPr lang="en-US" sz="950" dirty="0"/>
          </a:p>
        </p:txBody>
      </p:sp>
      <p:sp>
        <p:nvSpPr>
          <p:cNvPr id="63" name="Text 5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CORE PRINCIPLE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Derived, hybrid, authored — not everything is written by hand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371600" y="164592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and API contracts already exist in machine-readable form. Hand-writing them into Markdown would create a second source of truth that drifts silently — nothing fails when the doc is wrong. So we generate them instead.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371600" y="26060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141A45"/>
          </a:solidFill>
          <a:ln/>
        </p:spPr>
      </p:sp>
      <p:sp>
        <p:nvSpPr>
          <p:cNvPr id="8" name="Shape 5"/>
          <p:cNvSpPr/>
          <p:nvPr/>
        </p:nvSpPr>
        <p:spPr>
          <a:xfrm>
            <a:off x="1627632" y="28346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070" y="2910078"/>
            <a:ext cx="352044" cy="3520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40280" y="28072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240280" y="30632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CI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627632" y="3474720"/>
            <a:ext cx="2734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db-schema  ·  api-contracts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627632" y="4233672"/>
            <a:ext cx="2734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migrations, OpenAPI spec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627632" y="466344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write only the Intent section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937760" y="26060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141A45"/>
          </a:solidFill>
          <a:ln/>
        </p:spPr>
      </p:sp>
      <p:sp>
        <p:nvSpPr>
          <p:cNvPr id="16" name="Shape 12"/>
          <p:cNvSpPr/>
          <p:nvPr/>
        </p:nvSpPr>
        <p:spPr>
          <a:xfrm>
            <a:off x="5193792" y="2834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230" y="291007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06440" y="28072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806440" y="30632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generated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193792" y="3474720"/>
            <a:ext cx="2734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 ·  elements  ·  integrations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193792" y="4233672"/>
            <a:ext cx="2734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route config, component tree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193792" y="466344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generated, behavior authored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8503920" y="26060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141A45"/>
          </a:solidFill>
          <a:ln/>
        </p:spPr>
      </p:sp>
      <p:sp>
        <p:nvSpPr>
          <p:cNvPr id="24" name="Shape 19"/>
          <p:cNvSpPr/>
          <p:nvPr/>
        </p:nvSpPr>
        <p:spPr>
          <a:xfrm>
            <a:off x="8759952" y="2834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390" y="2910078"/>
            <a:ext cx="352044" cy="3520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72600" y="28072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372600" y="30632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human-written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759952" y="3474720"/>
            <a:ext cx="2734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business-rules  ·  workflows  ·  validation-rules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 ·  glossary  ·  decisions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759952" y="4233672"/>
            <a:ext cx="2734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AKL doc itself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8759952" y="466344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 is the source of truth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1371600" y="55321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change updates the knowledge layer in the same PR — no review SLA, no human memory, no drift.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DEEP DIVE · UI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&amp; Elements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991295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7" name="Text 4"/>
          <p:cNvSpPr/>
          <p:nvPr/>
        </p:nvSpPr>
        <p:spPr>
          <a:xfrm>
            <a:off x="8991295" y="457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FRONTEND / DEV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27685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13969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inventory: purpose, route, and key user actions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05409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291693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 between pages and entry points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83133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9417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elements as behavior contracts, not just visuals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60857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47141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variants: loading, error, empty, disabled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17220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KNOWLEDGE DOC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178308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141A45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2057400"/>
            <a:ext cx="4663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PG-014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domain: pages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Refund Request Page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owner_team: frontend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approved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EL-022      # refund form element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API-refunds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2960" y="52578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539496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AI AGENTS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97280" y="56509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generating or modifying a page reads its purpose and related elements/contracts first — reducing UI drift and duplicate component creation.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DEEP DIVE · API  (DERIVED)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Contracts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991295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7" name="Text 4"/>
          <p:cNvSpPr/>
          <p:nvPr/>
        </p:nvSpPr>
        <p:spPr>
          <a:xfrm>
            <a:off x="8991295" y="457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BACKEND / DEV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27685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13969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the OpenAPI spec — never hand-written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05409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291693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shape, status codes, error semantics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83133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9417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and permission requirements per endpoint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60857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47141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author only the Intent section below the generated block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17220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KNOWLEDGE DOC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178308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141A45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2057400"/>
            <a:ext cx="4663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API-refunds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domain: api-contracts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POST /refunds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owner_team: backend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approved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BR-042      # refund eligibility rule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DB-refunds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2960" y="52578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539496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AI AGENTS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97280" y="56509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Regenerated on every merge — the contract an agent reads can never be out of date with the spec it came from.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DEEP DIVE · DATABASE  (DERIVED)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Schema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991295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7" name="Text 4"/>
          <p:cNvSpPr/>
          <p:nvPr/>
        </p:nvSpPr>
        <p:spPr>
          <a:xfrm>
            <a:off x="8991295" y="457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BACKEND / DEV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27685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13969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migrations — never hand-written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05409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291693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fields, types, constraints, foreign keys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83133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9417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sensitive-field flags for safe agent handling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60857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47141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author only the Intent section — why a constraint exists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17220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KNOWLEDGE DOC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178308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141A45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2057400"/>
            <a:ext cx="4663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CHKOUT-DB-refunds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domain: db-schema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generated_from: migrations/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generator_version: 1.0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approved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sensitivity: internal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GENERATED:START --&gt;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id | uuid | PK |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GENERATED:END --&gt;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Intent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hard-deleted - see DEC-004.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2960" y="52578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539496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AI AGENTS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97280" y="56509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is the hard constraint agents read first — and because it regenerates on merge, it cannot drift from the database it describes.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DEEP DIVE · NON-FUNCTIONAL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991295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7" name="Text 4"/>
          <p:cNvSpPr/>
          <p:nvPr/>
        </p:nvSpPr>
        <p:spPr>
          <a:xfrm>
            <a:off x="8991295" y="457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ARCHITECTURE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27685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13969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budgets and response-time SLAs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05409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291693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compliance requirements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83133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9417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standards (e.g. WCAG level)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60857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47141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rate-limit expectations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17220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KNOWLEDGE DOC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178308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141A45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2057400"/>
            <a:ext cx="4663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NFR-008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domain: non-functional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Refund API response time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owner_team: architecture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approved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API-refunds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2960" y="52578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539496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AI AGENTS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97280" y="56509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constraints are what agents are most likely to silently violate — capturing them explicitly means a change that breaches a stated SLA gets flagged, not shipped.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for each team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2139696" cy="3749040"/>
          </a:xfrm>
          <a:prstGeom prst="roundRect">
            <a:avLst>
              <a:gd name="adj" fmla="val 3419"/>
            </a:avLst>
          </a:prstGeom>
          <a:solidFill>
            <a:srgbClr val="F7F9FC"/>
          </a:solidFill>
          <a:ln/>
        </p:spPr>
      </p:sp>
      <p:sp>
        <p:nvSpPr>
          <p:cNvPr id="7" name="Shape 4"/>
          <p:cNvSpPr/>
          <p:nvPr/>
        </p:nvSpPr>
        <p:spPr>
          <a:xfrm>
            <a:off x="1280160" y="224028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942" y="2328062"/>
            <a:ext cx="409651" cy="4096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0175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Management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85800" y="3566160"/>
            <a:ext cx="177393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 artifact for AI governance — and faster onboarding org-wide.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88920" y="1965960"/>
            <a:ext cx="2139696" cy="3749040"/>
          </a:xfrm>
          <a:prstGeom prst="roundRect">
            <a:avLst>
              <a:gd name="adj" fmla="val 3419"/>
            </a:avLst>
          </a:prstGeom>
          <a:solidFill>
            <a:srgbClr val="F7F9FC"/>
          </a:solidFill>
          <a:ln/>
        </p:spPr>
      </p:sp>
      <p:sp>
        <p:nvSpPr>
          <p:cNvPr id="12" name="Shape 8"/>
          <p:cNvSpPr/>
          <p:nvPr/>
        </p:nvSpPr>
        <p:spPr>
          <a:xfrm>
            <a:off x="3566160" y="224028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942" y="2328062"/>
            <a:ext cx="409651" cy="4096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26080" y="30175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971800" y="3566160"/>
            <a:ext cx="177393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captured once become directly enforceable, not re-explained every sprint.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74920" y="1965960"/>
            <a:ext cx="2139696" cy="3749040"/>
          </a:xfrm>
          <a:prstGeom prst="roundRect">
            <a:avLst>
              <a:gd name="adj" fmla="val 3419"/>
            </a:avLst>
          </a:prstGeom>
          <a:solidFill>
            <a:srgbClr val="1E2761"/>
          </a:solidFill>
          <a:ln/>
        </p:spPr>
      </p:sp>
      <p:sp>
        <p:nvSpPr>
          <p:cNvPr id="17" name="Shape 12"/>
          <p:cNvSpPr/>
          <p:nvPr/>
        </p:nvSpPr>
        <p:spPr>
          <a:xfrm>
            <a:off x="5852160" y="224028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942" y="2328062"/>
            <a:ext cx="409651" cy="4096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12080" y="30175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257800" y="3566160"/>
            <a:ext cx="177393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surfaces the right rule, schema, and contract automatically while coding.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360920" y="1965960"/>
            <a:ext cx="2139696" cy="3749040"/>
          </a:xfrm>
          <a:prstGeom prst="roundRect">
            <a:avLst>
              <a:gd name="adj" fmla="val 3419"/>
            </a:avLst>
          </a:prstGeom>
          <a:solidFill>
            <a:srgbClr val="F7F9FC"/>
          </a:solidFill>
          <a:ln/>
        </p:spPr>
      </p:sp>
      <p:sp>
        <p:nvSpPr>
          <p:cNvPr id="22" name="Shape 16"/>
          <p:cNvSpPr/>
          <p:nvPr/>
        </p:nvSpPr>
        <p:spPr>
          <a:xfrm>
            <a:off x="8138160" y="224028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942" y="2328062"/>
            <a:ext cx="409651" cy="40965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98080" y="30175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(Manual)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543800" y="3566160"/>
            <a:ext cx="177393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logic is explicit and traceable — no more inferring intent from the UI.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9646920" y="1965960"/>
            <a:ext cx="2139696" cy="3749040"/>
          </a:xfrm>
          <a:prstGeom prst="roundRect">
            <a:avLst>
              <a:gd name="adj" fmla="val 3419"/>
            </a:avLst>
          </a:prstGeom>
          <a:solidFill>
            <a:srgbClr val="F7F9FC"/>
          </a:solidFill>
          <a:ln/>
        </p:spPr>
      </p:sp>
      <p:sp>
        <p:nvSpPr>
          <p:cNvPr id="27" name="Shape 20"/>
          <p:cNvSpPr/>
          <p:nvPr/>
        </p:nvSpPr>
        <p:spPr>
          <a:xfrm>
            <a:off x="10424160" y="224028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1942" y="2328062"/>
            <a:ext cx="409651" cy="40965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784080" y="30175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Automation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9829800" y="3566160"/>
            <a:ext cx="177393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 grounds itself in governed contracts, not scraped, guessed behavior.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POSSIBILITIES · TECH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becomes possible for technical management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18" y="2132838"/>
            <a:ext cx="352044" cy="3520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039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AI governance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97280" y="2651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artifact to show auditors and leadership when demonstrating AI risk controls — not a policy statement, an enforced repo structure.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55080" y="1783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2" name="Shape 8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838" y="2132838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039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onboarding, org-wide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629400" y="2651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and vendors ramp against one governed reference instead of reconstructing tribal knowledge from scattered docs and Slack history.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7" name="Shape 12"/>
          <p:cNvSpPr/>
          <p:nvPr/>
        </p:nvSpPr>
        <p:spPr>
          <a:xfrm>
            <a:off x="109728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718" y="4418838"/>
            <a:ext cx="352044" cy="3520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knowledge health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097280" y="4937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staleness-check automation surfaces exactly where documentation is thin or overdue — a standing signal, not a periodic audit project.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35508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62940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838" y="4418838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to scale AI usage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629400" y="4937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Copilot and agent adoption into more of the codebase without a proportional increase in oversight risk — the guardrails scale with the layer.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POSSIBILITIES · BUSINESS ANALYSTS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becomes possible for BAs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18" y="2132838"/>
            <a:ext cx="352044" cy="3520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039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become enforceable, not just written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97280" y="2651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rule text a BA authors is what Copilot reads while a developer builds — closing the gap between spec and shipped behavior.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55080" y="1783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2" name="Shape 8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838" y="2132838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039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repeated conversations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629400" y="2651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durable reference to point to instead of re-explaining the same rule in every refinement session and every new hire's ramp-up.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7" name="Shape 12"/>
          <p:cNvSpPr/>
          <p:nvPr/>
        </p:nvSpPr>
        <p:spPr>
          <a:xfrm>
            <a:off x="109728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718" y="4418838"/>
            <a:ext cx="352044" cy="3520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without becoming a bottleneck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097280" y="4937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owns business-rules/ and workflows/ outright — no need to review every dev PR just to protect the domain.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35508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62940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838" y="4418838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visibility into conflicts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629400" y="4937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or schema change that touches a related business rule surfaces automatically through the related: links — BA sees it before it ships, not after.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POSSIBILITIES · DEVELOPERS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becomes possible for developers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18" y="2132838"/>
            <a:ext cx="352044" cy="3520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039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without hunting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97280" y="2651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surfaces the exact business rule, schema, and contract for the file being edited — no manual search through docs or Slack.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55080" y="1783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2" name="Shape 8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838" y="2132838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039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scaffolding via skills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629400" y="2651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can read schema + contract + validation rules before generating code, surfacing contradictions up front instead of in code review.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7" name="Shape 12"/>
          <p:cNvSpPr/>
          <p:nvPr/>
        </p:nvSpPr>
        <p:spPr>
          <a:xfrm>
            <a:off x="109728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718" y="4418838"/>
            <a:ext cx="352044" cy="3520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rework from wrong assumptions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097280" y="4937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and contract docs live next to the code they describe, reviewed in the same PR — assumptions get checked before code ships, not after.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35508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62940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838" y="4418838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more agentic workflows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629400" y="4937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knowledge is structured, more Copilot skills — refactor-safety checks, test generation — become possible without new infrastructure.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POSSIBILITIES · QA (MANUAL)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becomes possible for functional QA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18" y="2132838"/>
            <a:ext cx="352044" cy="3520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039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traceable validation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97280" y="2651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point to a specific rule ID instead of inferred UI behavior — what's being tested and why is always answerable.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55080" y="1783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2" name="Shape 8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838" y="2132838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039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coverage reporting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629400" y="2651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 become visible against governed rules, not just against a spec document that may itself be out of date.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7" name="Shape 12"/>
          <p:cNvSpPr/>
          <p:nvPr/>
        </p:nvSpPr>
        <p:spPr>
          <a:xfrm>
            <a:off x="109728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718" y="4418838"/>
            <a:ext cx="352044" cy="3520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bug triage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097280" y="4937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a bug or intended behavior” resolves by checking the knowledge doc directly — fewer round-trips with BA or dev to confirm.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35508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62940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838" y="4418838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influence, not just review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629400" y="4937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co-owns validation-rules/ with dev — a formal seat in the domain closest to their work, not an afterthought reviewer.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POSSIBILITIES · QA AUTOMATION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becomes possible for automation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18" y="2132838"/>
            <a:ext cx="352044" cy="3520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039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Contract-grounded test generation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97280" y="2651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test creation reads governed API contracts and validation rules directly, instead of scraping expected behavior from the UI.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55080" y="1783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2" name="Shape 8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838" y="2132838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039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 for self-healing tests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629400" y="2651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healing agent can re-check a failing test against the rule or contract itself — not just “what changed in the DOM.”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7" name="Shape 12"/>
          <p:cNvSpPr/>
          <p:nvPr/>
        </p:nvSpPr>
        <p:spPr>
          <a:xfrm>
            <a:off x="109728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718" y="4418838"/>
            <a:ext cx="352044" cy="3520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flaky, assumption-based failures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097280" y="4937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stop silently breaking when a rule changes without anyone updating them — the rule and the test trace to the same PR history.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35508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62940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838" y="4418838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base for the automation roadmap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629400" y="4937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Self-generating exploratory testing and healing agents already on the roadmap get a structured source of truth to ground on, instead of inferred behavior.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ownership — not a bottleneck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371600" y="1554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owns and approves changes within their own domain. Governance sets the shared standard once — it doesn't review every change.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084168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4312768" y="2450592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807" y="2535631"/>
            <a:ext cx="396850" cy="3968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98568" y="239572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sets the standard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998568" y="2688336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schema, review cadence — owned once, centrally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95848" y="3200400"/>
            <a:ext cx="-3855568" cy="7315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95848" y="3200400"/>
            <a:ext cx="-15088" cy="7315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95848" y="3200400"/>
            <a:ext cx="3825392" cy="7315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3931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/>
        </p:spPr>
      </p:sp>
      <p:sp>
        <p:nvSpPr>
          <p:cNvPr id="16" name="Shape 12"/>
          <p:cNvSpPr/>
          <p:nvPr/>
        </p:nvSpPr>
        <p:spPr>
          <a:xfrm>
            <a:off x="1965960" y="4160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56" y="424281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48463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5166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business-rules,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931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/>
        </p:spPr>
      </p:sp>
      <p:sp>
        <p:nvSpPr>
          <p:cNvPr id="21" name="Shape 16"/>
          <p:cNvSpPr/>
          <p:nvPr/>
        </p:nvSpPr>
        <p:spPr>
          <a:xfrm>
            <a:off x="5806440" y="4160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424281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92040" y="48463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37760" y="5166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elements,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contracts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595360" y="3931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/>
        </p:spPr>
      </p:sp>
      <p:sp>
        <p:nvSpPr>
          <p:cNvPr id="26" name="Shape 20"/>
          <p:cNvSpPr/>
          <p:nvPr/>
        </p:nvSpPr>
        <p:spPr>
          <a:xfrm>
            <a:off x="9646920" y="4160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16" y="424281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732520" y="48463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778240" y="5166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co-review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validation-rules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WORKFLOW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follows the same discipline as code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011680" y="2286000"/>
            <a:ext cx="790041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9164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2084832"/>
            <a:ext cx="402336" cy="4023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288036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F7F9FC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3044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338328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edits or adds a file in their domain folder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25112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2084832"/>
            <a:ext cx="402336" cy="40233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56432" y="288036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F7F9FC"/>
          </a:solidFill>
          <a:ln/>
        </p:spPr>
      </p:sp>
      <p:sp>
        <p:nvSpPr>
          <p:cNvPr id="15" name="Text 10"/>
          <p:cNvSpPr/>
          <p:nvPr/>
        </p:nvSpPr>
        <p:spPr>
          <a:xfrm>
            <a:off x="3593592" y="3044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639312" y="338328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 requires the owning team's approval — automatically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958584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2084832"/>
            <a:ext cx="402336" cy="40233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089904" y="288036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F7F9FC"/>
          </a:solidFill>
          <a:ln/>
        </p:spPr>
      </p:sp>
      <p:sp>
        <p:nvSpPr>
          <p:cNvPr id="20" name="Text 14"/>
          <p:cNvSpPr/>
          <p:nvPr/>
        </p:nvSpPr>
        <p:spPr>
          <a:xfrm>
            <a:off x="6227064" y="3044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272784" y="338328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team approves; QA co-approves validation-rules changes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592056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28" y="2084832"/>
            <a:ext cx="402336" cy="40233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723376" y="288036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F7F9FC"/>
          </a:solidFill>
          <a:ln/>
        </p:spPr>
      </p:sp>
      <p:sp>
        <p:nvSpPr>
          <p:cNvPr id="25" name="Text 18"/>
          <p:cNvSpPr/>
          <p:nvPr/>
        </p:nvSpPr>
        <p:spPr>
          <a:xfrm>
            <a:off x="8860536" y="3044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&amp; live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906256" y="338328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publish step — Copilot sees it on the next context load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822960" y="48920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8" name="Text 21"/>
          <p:cNvSpPr/>
          <p:nvPr/>
        </p:nvSpPr>
        <p:spPr>
          <a:xfrm>
            <a:off x="1097280" y="48920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reviews only changes to _governance/ standards — never individual domain PRs. That's what keeps this federated, not centralized-with-extra-steps.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OWNERSHIP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 — in one table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645920"/>
            <a:ext cx="301752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164592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840480" y="1645920"/>
            <a:ext cx="192024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3950208" y="16459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760720" y="1645920"/>
            <a:ext cx="192024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870448" y="16459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80960" y="1645920"/>
            <a:ext cx="173736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7790688" y="16459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418320" y="1645920"/>
            <a:ext cx="192024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9528048" y="16459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2084832"/>
            <a:ext cx="30175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2688" y="2084832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/ Workflows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40480" y="2084832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50208" y="2084832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2084832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70448" y="2084832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Lead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680960" y="2084832"/>
            <a:ext cx="17373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90688" y="2084832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Leads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418320" y="2084832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28048" y="2084832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Automation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22960" y="2514600"/>
            <a:ext cx="301752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2688" y="251460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/ Elements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840480" y="2514600"/>
            <a:ext cx="192024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50208" y="2514600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760720" y="2514600"/>
            <a:ext cx="192024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70448" y="2514600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Lead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680960" y="2514600"/>
            <a:ext cx="173736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90688" y="2514600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BA, QA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418320" y="2514600"/>
            <a:ext cx="192024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528048" y="2514600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2960" y="2944368"/>
            <a:ext cx="30175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32688" y="2944368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/ API Contracts *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840480" y="2944368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950208" y="294436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760720" y="2944368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70448" y="294436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Lead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680960" y="2944368"/>
            <a:ext cx="17373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790688" y="2944368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418320" y="2944368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528048" y="294436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Automation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822960" y="3374136"/>
            <a:ext cx="301752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32688" y="3374136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3840480" y="3374136"/>
            <a:ext cx="192024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950208" y="3374136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QA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760720" y="3374136"/>
            <a:ext cx="192024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870448" y="3374136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Lead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680960" y="3374136"/>
            <a:ext cx="173736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790688" y="3374136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418320" y="3374136"/>
            <a:ext cx="192024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528048" y="3374136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822960" y="3803904"/>
            <a:ext cx="30175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32688" y="3803904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3840480" y="3803904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950208" y="3803904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5760720" y="3803904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870448" y="3803904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Management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7680960" y="3803904"/>
            <a:ext cx="17373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790688" y="3803904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Backend Leads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9418320" y="3803904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528048" y="3803904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22960" y="4233672"/>
            <a:ext cx="301752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32688" y="4233672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3840480" y="4233672"/>
            <a:ext cx="192024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950208" y="4233672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5760720" y="4233672"/>
            <a:ext cx="192024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870448" y="4233672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Lead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7680960" y="4233672"/>
            <a:ext cx="173736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790688" y="4233672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9418320" y="4233672"/>
            <a:ext cx="192024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528048" y="4233672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Automation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822960" y="4663440"/>
            <a:ext cx="30175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32688" y="466344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3840480" y="4663440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3950208" y="4663440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5760720" y="4663440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870448" y="4663440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Lead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7680960" y="4663440"/>
            <a:ext cx="17373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790688" y="4663440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domain owners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9418320" y="4663440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528048" y="4663440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822960" y="5093208"/>
            <a:ext cx="301752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932688" y="5093208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(ADRs)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3840480" y="5093208"/>
            <a:ext cx="192024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950208" y="509320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5760720" y="5093208"/>
            <a:ext cx="192024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870448" y="509320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Management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7680960" y="5093208"/>
            <a:ext cx="173736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790688" y="5093208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domain owners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9418320" y="5093208"/>
            <a:ext cx="1920240" cy="4297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528048" y="509320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822960" y="5522976"/>
            <a:ext cx="30175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932688" y="5522976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Standards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3840480" y="5522976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950208" y="5522976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(governance)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5760720" y="5522976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5870448" y="5522976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Management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7680960" y="5522976"/>
            <a:ext cx="17373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7790688" y="5522976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domain owners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9418320" y="5522976"/>
            <a:ext cx="192024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9528048" y="5522976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</a:t>
            </a:r>
            <a:endParaRPr lang="en-US" sz="1000" dirty="0"/>
          </a:p>
        </p:txBody>
      </p:sp>
      <p:sp>
        <p:nvSpPr>
          <p:cNvPr id="106" name="Text 103"/>
          <p:cNvSpPr/>
          <p:nvPr/>
        </p:nvSpPr>
        <p:spPr>
          <a:xfrm>
            <a:off x="822960" y="611733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Derived domains — generated in CI from migrations and the OpenAPI spec. The owning team maintains only the Intent section.</a:t>
            </a:r>
            <a:endParaRPr lang="en-US" sz="1000" dirty="0"/>
          </a:p>
        </p:txBody>
      </p:sp>
      <p:sp>
        <p:nvSpPr>
          <p:cNvPr id="107" name="Text 10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ENFORCEMENT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becomes machinery — CI blocks what breaks the standard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37360"/>
            <a:ext cx="10515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737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60520" y="1737360"/>
            <a:ext cx="7086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148840"/>
            <a:ext cx="320040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23360" y="2148840"/>
            <a:ext cx="731520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2148840"/>
            <a:ext cx="2971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schema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60520" y="2148840"/>
            <a:ext cx="7086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malformed id, owner_team, status, sensitivity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2633472"/>
            <a:ext cx="3200400" cy="484632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23360" y="2633472"/>
            <a:ext cx="7315200" cy="484632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2633472"/>
            <a:ext cx="2971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uniqueness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60520" y="2633472"/>
            <a:ext cx="7086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documents claiming the same identifier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3118104"/>
            <a:ext cx="320040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3118104"/>
            <a:ext cx="731520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3118104"/>
            <a:ext cx="2971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integrity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160520" y="3118104"/>
            <a:ext cx="7086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related: or superseded_by: pointing at a deleted doc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3602736"/>
            <a:ext cx="3200400" cy="484632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23360" y="3602736"/>
            <a:ext cx="7315200" cy="484632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0120" y="3602736"/>
            <a:ext cx="2971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leakage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160520" y="3602736"/>
            <a:ext cx="7086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status: draft doc referenced by an applyTo instruction file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22960" y="4087368"/>
            <a:ext cx="320040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23360" y="4087368"/>
            <a:ext cx="731520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0120" y="4087368"/>
            <a:ext cx="2971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Deprecation completeness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160520" y="4087368"/>
            <a:ext cx="7086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deprecated with no superseded_by value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22960" y="4572000"/>
            <a:ext cx="3200400" cy="484632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023360" y="4572000"/>
            <a:ext cx="7315200" cy="484632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0120" y="4572000"/>
            <a:ext cx="2971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scan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160520" y="4572000"/>
            <a:ext cx="7086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Credential-shaped strings, secrets, connection strings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22960" y="5056632"/>
            <a:ext cx="320040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023360" y="5056632"/>
            <a:ext cx="731520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0120" y="5056632"/>
            <a:ext cx="2971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Generated-block integrity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160520" y="5056632"/>
            <a:ext cx="7086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Hand-edits inside GENERATED markers in derived domains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22960" y="576986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the knowledge layer decays into the same untrustworthy state as the wiki it replaces — just with a better folder structure.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FRESHNESS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Staleness is visible, not assumed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LIFECYCLE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22960" y="20574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998" y="2361438"/>
            <a:ext cx="352044" cy="3520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258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9728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repo,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Copilot context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2606040"/>
            <a:ext cx="32004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51960" y="20574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4" name="Shape 9"/>
          <p:cNvSpPr/>
          <p:nvPr/>
        </p:nvSpPr>
        <p:spPr>
          <a:xfrm>
            <a:off x="4480560" y="22860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998" y="2361438"/>
            <a:ext cx="352044" cy="3520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20640" y="2258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52628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loaded by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Copilot instructions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2606040"/>
            <a:ext cx="320040" cy="274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680960" y="20574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</p:spPr>
      </p:sp>
      <p:sp>
        <p:nvSpPr>
          <p:cNvPr id="20" name="Shape 13"/>
          <p:cNvSpPr/>
          <p:nvPr/>
        </p:nvSpPr>
        <p:spPr>
          <a:xfrm>
            <a:off x="790956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4998" y="2361438"/>
            <a:ext cx="352044" cy="3520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549640" y="2258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795528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for history,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context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82296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CHURN-BASED STALENESS DETECTION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822960" y="420624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6" name="Shape 18"/>
          <p:cNvSpPr/>
          <p:nvPr/>
        </p:nvSpPr>
        <p:spPr>
          <a:xfrm>
            <a:off x="1097280" y="443484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2319" y="4519879"/>
            <a:ext cx="396850" cy="3968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920240" y="43891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detected from code commits — not calendar dates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1920240" y="475488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doc's tracks: field names the code paths it describes. If those paths have commits newer than last_reviewed, an issue opens against the owning team naming the specific commits. A calendar SLA remains only as a floor for low-churn docs.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date-based SLA is gamed by bumping a date — and marks a doc “fresh” even when the code it describes changed twice since.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SECURITY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must never enter the knowledge layer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371600" y="15727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describing auth flows, PII fields, and rate limits is a useful artifact for an attacker — and it is loaded into an AI tool's context by default. This is the question most likely to stall sponsor approval if left unanswered.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377440"/>
            <a:ext cx="507492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1078992" y="26060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2681478"/>
            <a:ext cx="352044" cy="3520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6334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the AKL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143000" y="335584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1371600" y="32278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secrets, keys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1143000" y="368503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1371600" y="355701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143000" y="40142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1371600" y="38862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1143000" y="434340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1371600" y="421538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vulnerability detail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1143000" y="467258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6"/>
          <p:cNvSpPr/>
          <p:nvPr/>
        </p:nvSpPr>
        <p:spPr>
          <a:xfrm>
            <a:off x="1371600" y="45445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 implementation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263640" y="2377440"/>
            <a:ext cx="5074920" cy="26060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/>
        </p:spPr>
      </p:sp>
      <p:sp>
        <p:nvSpPr>
          <p:cNvPr id="22" name="Shape 18"/>
          <p:cNvSpPr/>
          <p:nvPr/>
        </p:nvSpPr>
        <p:spPr>
          <a:xfrm>
            <a:off x="6519672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10" y="2681478"/>
            <a:ext cx="352044" cy="3520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32320" y="26334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 as 'restricted'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583680" y="335584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1"/>
          <p:cNvSpPr/>
          <p:nvPr/>
        </p:nvSpPr>
        <p:spPr>
          <a:xfrm>
            <a:off x="6812280" y="32278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field identification (no sample data)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583680" y="368503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3"/>
          <p:cNvSpPr/>
          <p:nvPr/>
        </p:nvSpPr>
        <p:spPr>
          <a:xfrm>
            <a:off x="6812280" y="355701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requirements per endpoint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583680" y="401421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5"/>
          <p:cNvSpPr/>
          <p:nvPr/>
        </p:nvSpPr>
        <p:spPr>
          <a:xfrm>
            <a:off x="6812280" y="38862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Copilot by default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583680" y="434340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27"/>
          <p:cNvSpPr/>
          <p:nvPr/>
        </p:nvSpPr>
        <p:spPr>
          <a:xfrm>
            <a:off x="6812280" y="421538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opt-in per instruction file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583680" y="467258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29"/>
          <p:cNvSpPr/>
          <p:nvPr/>
        </p:nvSpPr>
        <p:spPr>
          <a:xfrm>
            <a:off x="6812280" y="45445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content caught by CI scan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22960" y="525780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/>
        </p:spPr>
      </p:sp>
      <p:sp>
        <p:nvSpPr>
          <p:cNvPr id="36" name="Shape 31"/>
          <p:cNvSpPr/>
          <p:nvPr/>
        </p:nvSpPr>
        <p:spPr>
          <a:xfrm>
            <a:off x="1097280" y="5422392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833" y="5501945"/>
            <a:ext cx="371246" cy="37124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874520" y="5349240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item: confirm with Security whether AKL content leaving our tenancy via Copilot is cleared under existing agreements. “It's just Markdown in our repo” does not answer that — the content is transmitted as model context.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Copilot actually uses this, in VS Code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2057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319" y="2142439"/>
            <a:ext cx="396850" cy="396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0574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828800" y="24048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Ambient, automatic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1143000" y="304495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1371600" y="289864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matching files via applyTo globs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1143000" y="382219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1371600" y="36758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silently — no developer action needed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143000" y="459943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1371600" y="44531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path for all 7 knowledge domains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63640" y="178308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/>
        </p:spPr>
      </p:sp>
      <p:sp>
        <p:nvSpPr>
          <p:cNvPr id="18" name="Shape 14"/>
          <p:cNvSpPr/>
          <p:nvPr/>
        </p:nvSpPr>
        <p:spPr>
          <a:xfrm>
            <a:off x="6537960" y="2057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999" y="2142439"/>
            <a:ext cx="396850" cy="3968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69480" y="20574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269480" y="24048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Invoked, task-driven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583680" y="304495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6812280" y="289864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run by the developer for a task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583680" y="382219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0"/>
          <p:cNvSpPr/>
          <p:nvPr/>
        </p:nvSpPr>
        <p:spPr>
          <a:xfrm>
            <a:off x="6812280" y="36758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specific knowledge docs mid-task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583680" y="459943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2"/>
          <p:cNvSpPr/>
          <p:nvPr/>
        </p:nvSpPr>
        <p:spPr>
          <a:xfrm>
            <a:off x="6812280" y="44531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scaffold an endpoint from schema + contract + rules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files, not on any one tool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371600" y="169164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knowledge document is plain Markdown and YAML, versioned in git. That's a deliberate bet: whatever AI tooling looks like in two years, the source of truth doesn't have to be migrated — only read differently.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371600" y="288036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141A45"/>
          </a:solidFill>
          <a:ln/>
        </p:spPr>
      </p:sp>
      <p:sp>
        <p:nvSpPr>
          <p:cNvPr id="8" name="Shape 5"/>
          <p:cNvSpPr/>
          <p:nvPr/>
        </p:nvSpPr>
        <p:spPr>
          <a:xfrm>
            <a:off x="2720340" y="3154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36" y="323697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886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645920" y="4297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wiki, not a proprietary CMS — plain files any future tool can read.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937760" y="288036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141A45"/>
          </a:solidFill>
          <a:ln/>
        </p:spPr>
      </p:sp>
      <p:sp>
        <p:nvSpPr>
          <p:cNvPr id="13" name="Shape 9"/>
          <p:cNvSpPr/>
          <p:nvPr/>
        </p:nvSpPr>
        <p:spPr>
          <a:xfrm>
            <a:off x="6286500" y="3154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323697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66360" y="3886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Additive, not migratory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5212080" y="4297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consumption paths plug into the same files — nothing gets rebuilt.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503920" y="288036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141A45"/>
          </a:solidFill>
          <a:ln/>
        </p:spPr>
      </p:sp>
      <p:sp>
        <p:nvSpPr>
          <p:cNvPr id="18" name="Shape 13"/>
          <p:cNvSpPr/>
          <p:nvPr/>
        </p:nvSpPr>
        <p:spPr>
          <a:xfrm>
            <a:off x="9852660" y="3154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4956" y="323697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32520" y="3886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structure, not effort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778240" y="4297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tagged, single-purpose files were designed for machine consumption from day one.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same files enable next — without rework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90008" y="169164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5254600" y="1810512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152" y="1890065"/>
            <a:ext cx="371246" cy="3712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67248" y="1764792"/>
            <a:ext cx="10972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/knowledge/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(today)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095848" y="2468880"/>
            <a:ext cx="-4244188" cy="77724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095848" y="2468880"/>
            <a:ext cx="-1409548" cy="77724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6095848" y="2468880"/>
            <a:ext cx="1425092" cy="77724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6095848" y="2468880"/>
            <a:ext cx="4259732" cy="77724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85800" y="324612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1577340" y="34747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36" y="35570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4160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Copilot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68680" y="4617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shipping now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520440" y="324612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4411980" y="3474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276" y="35570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57600" y="4160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703320" y="4617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&gt;300 docs or &gt;2 repos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355080" y="324612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25" name="Shape 19"/>
          <p:cNvSpPr/>
          <p:nvPr/>
        </p:nvSpPr>
        <p:spPr>
          <a:xfrm>
            <a:off x="7246620" y="3474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916" y="355701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92240" y="4160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Vector Search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537960" y="4617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natural-language lookup needed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9189720" y="324612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30" name="Shape 23"/>
          <p:cNvSpPr/>
          <p:nvPr/>
        </p:nvSpPr>
        <p:spPr>
          <a:xfrm>
            <a:off x="10081260" y="3474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3556" y="355701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26880" y="4160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Enterprise Agents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9372600" y="4617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 non-VS-Code agent needs grounding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trigger matters more than naming the option — otherwise nobody ever decides it's time. Dashed = enabled by the same files, not required for launch.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prove it works — before scaling it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371600" y="15727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claim is that agents produce better output when grounded in the layer. We define the evaluation before the pilot, so the pilot produces evidence rather than opinion: ~20 representative dev tasks, run with and without AKL context loaded.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468880"/>
            <a:ext cx="2139696" cy="2377440"/>
          </a:xfrm>
          <a:prstGeom prst="roundRect">
            <a:avLst>
              <a:gd name="adj" fmla="val 3419"/>
            </a:avLst>
          </a:prstGeom>
          <a:solidFill>
            <a:srgbClr val="F7F9FC"/>
          </a:solidFill>
          <a:ln/>
        </p:spPr>
      </p:sp>
      <p:sp>
        <p:nvSpPr>
          <p:cNvPr id="8" name="Shape 5"/>
          <p:cNvSpPr/>
          <p:nvPr/>
        </p:nvSpPr>
        <p:spPr>
          <a:xfrm>
            <a:off x="1298448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277977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" y="3383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introduced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406908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grounding prevents rule violations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88920" y="2468880"/>
            <a:ext cx="2139696" cy="2377440"/>
          </a:xfrm>
          <a:prstGeom prst="roundRect">
            <a:avLst>
              <a:gd name="adj" fmla="val 3419"/>
            </a:avLst>
          </a:prstGeom>
          <a:solidFill>
            <a:srgbClr val="F7F9FC"/>
          </a:solidFill>
          <a:ln/>
        </p:spPr>
      </p:sp>
      <p:sp>
        <p:nvSpPr>
          <p:cNvPr id="13" name="Shape 9"/>
          <p:cNvSpPr/>
          <p:nvPr/>
        </p:nvSpPr>
        <p:spPr>
          <a:xfrm>
            <a:off x="3584448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77977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98648" y="3383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comments on factual errors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926080" y="406908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avoided downstream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074920" y="2468880"/>
            <a:ext cx="2139696" cy="2377440"/>
          </a:xfrm>
          <a:prstGeom prst="roundRect">
            <a:avLst>
              <a:gd name="adj" fmla="val 3419"/>
            </a:avLst>
          </a:prstGeom>
          <a:solidFill>
            <a:srgbClr val="F7F9FC"/>
          </a:solidFill>
          <a:ln/>
        </p:spPr>
      </p:sp>
      <p:sp>
        <p:nvSpPr>
          <p:cNvPr id="18" name="Shape 13"/>
          <p:cNvSpPr/>
          <p:nvPr/>
        </p:nvSpPr>
        <p:spPr>
          <a:xfrm>
            <a:off x="5870448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277977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84648" y="3383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Mismatches caught pre-merge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212080" y="406908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shift-left effect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360920" y="2468880"/>
            <a:ext cx="2139696" cy="2377440"/>
          </a:xfrm>
          <a:prstGeom prst="roundRect">
            <a:avLst>
              <a:gd name="adj" fmla="val 3419"/>
            </a:avLst>
          </a:prstGeom>
          <a:solidFill>
            <a:srgbClr val="F7F9FC"/>
          </a:solidFill>
          <a:ln/>
        </p:spPr>
      </p:sp>
      <p:sp>
        <p:nvSpPr>
          <p:cNvPr id="23" name="Shape 17"/>
          <p:cNvSpPr/>
          <p:nvPr/>
        </p:nvSpPr>
        <p:spPr>
          <a:xfrm>
            <a:off x="8156448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744" y="2779776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70648" y="3383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correct implementation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7498080" y="406908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friction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2468880"/>
            <a:ext cx="2139696" cy="2377440"/>
          </a:xfrm>
          <a:prstGeom prst="roundRect">
            <a:avLst>
              <a:gd name="adj" fmla="val 3419"/>
            </a:avLst>
          </a:prstGeom>
          <a:solidFill>
            <a:srgbClr val="F7F9FC"/>
          </a:solidFill>
          <a:ln/>
        </p:spPr>
      </p:sp>
      <p:sp>
        <p:nvSpPr>
          <p:cNvPr id="28" name="Shape 21"/>
          <p:cNvSpPr/>
          <p:nvPr/>
        </p:nvSpPr>
        <p:spPr>
          <a:xfrm>
            <a:off x="10442448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4744" y="2779776"/>
            <a:ext cx="384048" cy="38404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756648" y="3383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hours per sprint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9784080" y="406908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side of the ledger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822960" y="516636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33" name="Text 25"/>
          <p:cNvSpPr/>
          <p:nvPr/>
        </p:nvSpPr>
        <p:spPr>
          <a:xfrm>
            <a:off x="1097280" y="51663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becomes an evidence-backed decision — and “is this working?” gets answered with numbers, not anecdote.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one feature area before scaling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307592" y="2423160"/>
            <a:ext cx="100492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51560" y="212140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" y="2834640"/>
            <a:ext cx="1298448" cy="1965960"/>
          </a:xfrm>
          <a:prstGeom prst="roundRect">
            <a:avLst>
              <a:gd name="adj" fmla="val 4930"/>
            </a:avLst>
          </a:prstGeom>
          <a:solidFill>
            <a:srgbClr val="F7F9FC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2944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" y="327355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namespacing, security,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arbitration, eval baseline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94944" y="420624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MGMT + ARCH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2487168" y="21214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2487168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093976" y="2834640"/>
            <a:ext cx="1298448" cy="1965960"/>
          </a:xfrm>
          <a:prstGeom prst="roundRect">
            <a:avLst>
              <a:gd name="adj" fmla="val 4930"/>
            </a:avLst>
          </a:prstGeom>
          <a:solidFill>
            <a:srgbClr val="F7F9FC"/>
          </a:solidFill>
          <a:ln/>
        </p:spPr>
      </p:sp>
      <p:sp>
        <p:nvSpPr>
          <p:cNvPr id="16" name="Text 13"/>
          <p:cNvSpPr/>
          <p:nvPr/>
        </p:nvSpPr>
        <p:spPr>
          <a:xfrm>
            <a:off x="2148840" y="2944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148840" y="327355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governance,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CODEOWNERS, validate CI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130552" y="420624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+ DEV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3922776" y="212140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7"/>
          <p:cNvSpPr/>
          <p:nvPr/>
        </p:nvSpPr>
        <p:spPr>
          <a:xfrm>
            <a:off x="3922776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529584" y="2834640"/>
            <a:ext cx="1298448" cy="1965960"/>
          </a:xfrm>
          <a:prstGeom prst="roundRect">
            <a:avLst>
              <a:gd name="adj" fmla="val 4930"/>
            </a:avLst>
          </a:prstGeom>
          <a:solidFill>
            <a:srgbClr val="F7F9FC"/>
          </a:solidFill>
          <a:ln/>
        </p:spPr>
      </p:sp>
      <p:sp>
        <p:nvSpPr>
          <p:cNvPr id="22" name="Text 19"/>
          <p:cNvSpPr/>
          <p:nvPr/>
        </p:nvSpPr>
        <p:spPr>
          <a:xfrm>
            <a:off x="3584448" y="2944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84448" y="327355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schema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API contract docs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566160" y="420624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5358384" y="21214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5358384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965192" y="2834640"/>
            <a:ext cx="1298448" cy="1965960"/>
          </a:xfrm>
          <a:prstGeom prst="roundRect">
            <a:avLst>
              <a:gd name="adj" fmla="val 4930"/>
            </a:avLst>
          </a:prstGeom>
          <a:solidFill>
            <a:srgbClr val="F7F9FC"/>
          </a:solidFill>
          <a:ln/>
        </p:spPr>
      </p:sp>
      <p:sp>
        <p:nvSpPr>
          <p:cNvPr id="28" name="Text 25"/>
          <p:cNvSpPr/>
          <p:nvPr/>
        </p:nvSpPr>
        <p:spPr>
          <a:xfrm>
            <a:off x="5020056" y="2944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20056" y="327355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workflows, pages,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NFRs, glossary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01768" y="420624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+ FE + ARCH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6793992" y="21214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29"/>
          <p:cNvSpPr/>
          <p:nvPr/>
        </p:nvSpPr>
        <p:spPr>
          <a:xfrm>
            <a:off x="6793992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00800" y="2834640"/>
            <a:ext cx="1298448" cy="1965960"/>
          </a:xfrm>
          <a:prstGeom prst="roundRect">
            <a:avLst>
              <a:gd name="adj" fmla="val 4930"/>
            </a:avLst>
          </a:prstGeom>
          <a:solidFill>
            <a:srgbClr val="F7F9FC"/>
          </a:solidFill>
          <a:ln/>
        </p:spPr>
      </p:sp>
      <p:sp>
        <p:nvSpPr>
          <p:cNvPr id="34" name="Text 31"/>
          <p:cNvSpPr/>
          <p:nvPr/>
        </p:nvSpPr>
        <p:spPr>
          <a:xfrm>
            <a:off x="6455664" y="2944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55664" y="327355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Co-review and arbitration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exercised deliberately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437376" y="420624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QA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8229600" y="21214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5"/>
          <p:cNvSpPr/>
          <p:nvPr/>
        </p:nvSpPr>
        <p:spPr>
          <a:xfrm>
            <a:off x="8229600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836408" y="2834640"/>
            <a:ext cx="1298448" cy="1965960"/>
          </a:xfrm>
          <a:prstGeom prst="roundRect">
            <a:avLst>
              <a:gd name="adj" fmla="val 4930"/>
            </a:avLst>
          </a:prstGeom>
          <a:solidFill>
            <a:srgbClr val="F7F9FC"/>
          </a:solidFill>
          <a:ln/>
        </p:spPr>
      </p:sp>
      <p:sp>
        <p:nvSpPr>
          <p:cNvPr id="40" name="Text 37"/>
          <p:cNvSpPr/>
          <p:nvPr/>
        </p:nvSpPr>
        <p:spPr>
          <a:xfrm>
            <a:off x="7891272" y="2944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Wiring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891272" y="327355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instructions,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workflow live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872984" y="420624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9665208" y="21214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4" name="Text 41"/>
          <p:cNvSpPr/>
          <p:nvPr/>
        </p:nvSpPr>
        <p:spPr>
          <a:xfrm>
            <a:off x="9665208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9272016" y="2834640"/>
            <a:ext cx="1298448" cy="1965960"/>
          </a:xfrm>
          <a:prstGeom prst="roundRect">
            <a:avLst>
              <a:gd name="adj" fmla="val 4930"/>
            </a:avLst>
          </a:prstGeom>
          <a:solidFill>
            <a:srgbClr val="F7F9FC"/>
          </a:solidFill>
          <a:ln/>
        </p:spPr>
      </p:sp>
      <p:sp>
        <p:nvSpPr>
          <p:cNvPr id="46" name="Text 43"/>
          <p:cNvSpPr/>
          <p:nvPr/>
        </p:nvSpPr>
        <p:spPr>
          <a:xfrm>
            <a:off x="9326880" y="2944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326880" y="327355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eval; decide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with data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9308592" y="420624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MGMT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11100816" y="21214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0" name="Text 47"/>
          <p:cNvSpPr/>
          <p:nvPr/>
        </p:nvSpPr>
        <p:spPr>
          <a:xfrm>
            <a:off x="11100816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0707624" y="2834640"/>
            <a:ext cx="1298448" cy="1965960"/>
          </a:xfrm>
          <a:prstGeom prst="roundRect">
            <a:avLst>
              <a:gd name="adj" fmla="val 4930"/>
            </a:avLst>
          </a:prstGeom>
          <a:solidFill>
            <a:srgbClr val="F7F9FC"/>
          </a:solidFill>
          <a:ln/>
        </p:spPr>
      </p:sp>
      <p:sp>
        <p:nvSpPr>
          <p:cNvPr id="52" name="Text 49"/>
          <p:cNvSpPr/>
          <p:nvPr/>
        </p:nvSpPr>
        <p:spPr>
          <a:xfrm>
            <a:off x="10762488" y="2944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10762488" y="327355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 areas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second app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0744200" y="420624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822960" y="51206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6" name="Text 53"/>
          <p:cNvSpPr/>
          <p:nvPr/>
        </p:nvSpPr>
        <p:spPr>
          <a:xfrm>
            <a:off x="1097280" y="512064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is new and non-negotiable — each decision is irreversible, a sponsor blocker, or a week-two deadlock.  Phase 2 is the difference between a durable system and a decaying one: build the generators before anyone hand-writes a schema doc they'll never update.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here is unproven — except the combination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105156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6916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26280" y="1691640"/>
            <a:ext cx="6720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" y="2075688"/>
            <a:ext cx="3566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2075688"/>
            <a:ext cx="6949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2075688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Docs-as-code in the repo, owner metadata, PR review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26280" y="2075688"/>
            <a:ext cx="6720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TechDocs — 5,000+ doc sites; Backstage at 3,400+ companies incl. Expedia (20k microservices), Mercedes-Benz, CVS Health. Google runs the same pattern via g3doc.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22960" y="2734056"/>
            <a:ext cx="3566160" cy="6583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9120" y="2734056"/>
            <a:ext cx="6949440" cy="6583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273405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/ migrations as generated source of truth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26280" y="2734056"/>
            <a:ext cx="6720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API governance. ~75% of production APIs don't match their specs — which is exactly the drift generation removes.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22960" y="3392424"/>
            <a:ext cx="3566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89120" y="3392424"/>
            <a:ext cx="6949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339242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computational governance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26280" y="3392424"/>
            <a:ext cx="6720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at enterprise scale in data mesh — global standards, sovereign domains, policy enforced as code.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22960" y="4050792"/>
            <a:ext cx="3566160" cy="6583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89120" y="4050792"/>
            <a:ext cx="6949440" cy="658368"/>
          </a:xfrm>
          <a:prstGeom prst="rect">
            <a:avLst/>
          </a:prstGeom>
          <a:solidFill>
            <a:srgbClr val="F2F4F9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0120" y="40507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 in source control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26280" y="4050792"/>
            <a:ext cx="6720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Thoughtworks Technology Radar — “Adopt” ring, with source control explicitly recommended over a wiki.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22960" y="4709160"/>
            <a:ext cx="3566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89120" y="4709160"/>
            <a:ext cx="6949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0120" y="470916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context files, scoped hierarchically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26280" y="4709160"/>
            <a:ext cx="6720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— open spec (Aug 2025), donated to the Linux Foundation, 60,000+ projects, 20+ tools.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22960" y="5367528"/>
            <a:ext cx="356616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89120" y="5367528"/>
            <a:ext cx="694944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0120" y="5367528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all of it into one governed layer for humans AND agents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26280" y="5367528"/>
            <a:ext cx="6720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novel part — and precisely what the Phase 6 evaluation is designed to test.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22960" y="61539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ask isn't faith in an unproven idea — it's a bounded pilot to test whether individually proven practices compose well here.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469087"/>
            <a:ext cx="396850" cy="396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get started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745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/>
        </p:spPr>
      </p:sp>
      <p:sp>
        <p:nvSpPr>
          <p:cNvPr id="7" name="Shape 4"/>
          <p:cNvSpPr/>
          <p:nvPr/>
        </p:nvSpPr>
        <p:spPr>
          <a:xfrm>
            <a:off x="1051560" y="21214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203704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0208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approval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577840" y="2020824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light to stand up the /knowledge structure and governance standards this sprint.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31546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/>
        </p:spPr>
      </p:sp>
      <p:sp>
        <p:nvSpPr>
          <p:cNvPr id="12" name="Shape 8"/>
          <p:cNvSpPr/>
          <p:nvPr/>
        </p:nvSpPr>
        <p:spPr>
          <a:xfrm>
            <a:off x="1051560" y="34015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348386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33009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pilot team + feature area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577840" y="3300984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BA, dev, and QA commitment on a single bounded feature — not a company-wide ask.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4348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/>
        </p:spPr>
      </p:sp>
      <p:sp>
        <p:nvSpPr>
          <p:cNvPr id="17" name="Shape 12"/>
          <p:cNvSpPr/>
          <p:nvPr/>
        </p:nvSpPr>
        <p:spPr>
          <a:xfrm>
            <a:off x="1051560" y="46817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764024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5811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role formalized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577840" y="4581144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of _governance/ standards assigned — templates, cadence, CODEOWNERS mapping.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00584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7812" y="112928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0312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 foundation once — and reuse it everywhere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3931920" y="32461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3"/>
          <p:cNvSpPr/>
          <p:nvPr/>
        </p:nvSpPr>
        <p:spPr>
          <a:xfrm>
            <a:off x="39319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480560" y="32644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pilot scope this week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931920" y="38404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39319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80560" y="3858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/knowledge structure (Phase 1)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931920" y="44348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393192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80560" y="4453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outcomes after the pilot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2026-08-15T15:20:18Z</dcterms:created>
  <dcterms:modified xsi:type="dcterms:W3CDTF">2026-08-15T15:20:18Z</dcterms:modified>
</cp:coreProperties>
</file>